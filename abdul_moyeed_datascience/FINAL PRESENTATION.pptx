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4"/>
  </p:notesMasterIdLst>
  <p:sldIdLst>
    <p:sldId id="335" r:id="rId5"/>
    <p:sldId id="348" r:id="rId6"/>
    <p:sldId id="355" r:id="rId7"/>
    <p:sldId id="358" r:id="rId8"/>
    <p:sldId id="364" r:id="rId9"/>
    <p:sldId id="359" r:id="rId10"/>
    <p:sldId id="360" r:id="rId11"/>
    <p:sldId id="362" r:id="rId12"/>
    <p:sldId id="3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B19D2-C954-48C4-84D5-8ED06615F60C}" v="9" dt="2025-10-06T01:09:20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0" autoAdjust="0"/>
    <p:restoredTop sz="95226" autoAdjust="0"/>
  </p:normalViewPr>
  <p:slideViewPr>
    <p:cSldViewPr snapToGrid="0">
      <p:cViewPr varScale="1">
        <p:scale>
          <a:sx n="77" d="100"/>
          <a:sy n="77" d="100"/>
        </p:scale>
        <p:origin x="72" y="91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-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moyeed" userId="2c9f102d792eb535" providerId="LiveId" clId="{C6A6C2A3-CE20-4F5E-A0F6-7DFEEE90CE54}"/>
    <pc:docChg chg="undo custSel addSld delSld modSld">
      <pc:chgData name="Abdul moyeed" userId="2c9f102d792eb535" providerId="LiveId" clId="{C6A6C2A3-CE20-4F5E-A0F6-7DFEEE90CE54}" dt="2025-10-06T01:12:03.623" v="92" actId="47"/>
      <pc:docMkLst>
        <pc:docMk/>
      </pc:docMkLst>
      <pc:sldChg chg="add del">
        <pc:chgData name="Abdul moyeed" userId="2c9f102d792eb535" providerId="LiveId" clId="{C6A6C2A3-CE20-4F5E-A0F6-7DFEEE90CE54}" dt="2025-10-06T01:09:47.742" v="25" actId="47"/>
        <pc:sldMkLst>
          <pc:docMk/>
          <pc:sldMk cId="109857222" sldId="256"/>
        </pc:sldMkLst>
      </pc:sldChg>
      <pc:sldChg chg="del">
        <pc:chgData name="Abdul moyeed" userId="2c9f102d792eb535" providerId="LiveId" clId="{C6A6C2A3-CE20-4F5E-A0F6-7DFEEE90CE54}" dt="2025-10-06T01:12:03.623" v="92" actId="47"/>
        <pc:sldMkLst>
          <pc:docMk/>
          <pc:sldMk cId="1743235640" sldId="350"/>
        </pc:sldMkLst>
      </pc:sldChg>
      <pc:sldChg chg="addSp delSp modSp add del mod">
        <pc:chgData name="Abdul moyeed" userId="2c9f102d792eb535" providerId="LiveId" clId="{C6A6C2A3-CE20-4F5E-A0F6-7DFEEE90CE54}" dt="2025-10-06T01:11:42.683" v="90" actId="47"/>
        <pc:sldMkLst>
          <pc:docMk/>
          <pc:sldMk cId="1696792912" sldId="354"/>
        </pc:sldMkLst>
        <pc:spChg chg="add del">
          <ac:chgData name="Abdul moyeed" userId="2c9f102d792eb535" providerId="LiveId" clId="{C6A6C2A3-CE20-4F5E-A0F6-7DFEEE90CE54}" dt="2025-10-06T01:06:30.830" v="1" actId="478"/>
          <ac:spMkLst>
            <pc:docMk/>
            <pc:sldMk cId="1696792912" sldId="354"/>
            <ac:spMk id="2" creationId="{B2A49BF9-BE3A-8444-BD4C-97AF8ABBD74E}"/>
          </ac:spMkLst>
        </pc:spChg>
        <pc:spChg chg="add del">
          <ac:chgData name="Abdul moyeed" userId="2c9f102d792eb535" providerId="LiveId" clId="{C6A6C2A3-CE20-4F5E-A0F6-7DFEEE90CE54}" dt="2025-10-06T01:06:39.530" v="3"/>
          <ac:spMkLst>
            <pc:docMk/>
            <pc:sldMk cId="1696792912" sldId="354"/>
            <ac:spMk id="3" creationId="{8117664B-4754-7F4E-ADCF-6AF266499213}"/>
          </ac:spMkLst>
        </pc:spChg>
        <pc:spChg chg="add del mod">
          <ac:chgData name="Abdul moyeed" userId="2c9f102d792eb535" providerId="LiveId" clId="{C6A6C2A3-CE20-4F5E-A0F6-7DFEEE90CE54}" dt="2025-10-06T01:06:30.830" v="1" actId="478"/>
          <ac:spMkLst>
            <pc:docMk/>
            <pc:sldMk cId="1696792912" sldId="354"/>
            <ac:spMk id="5" creationId="{53DB3778-1DB3-D4E2-0D34-E9BDB3423707}"/>
          </ac:spMkLst>
        </pc:spChg>
        <pc:spChg chg="add del mod">
          <ac:chgData name="Abdul moyeed" userId="2c9f102d792eb535" providerId="LiveId" clId="{C6A6C2A3-CE20-4F5E-A0F6-7DFEEE90CE54}" dt="2025-10-06T01:07:01.777" v="7" actId="478"/>
          <ac:spMkLst>
            <pc:docMk/>
            <pc:sldMk cId="1696792912" sldId="354"/>
            <ac:spMk id="6" creationId="{77FAAC6F-0A8D-F68F-071A-791A6B06CEAF}"/>
          </ac:spMkLst>
        </pc:spChg>
        <pc:spChg chg="add del mod">
          <ac:chgData name="Abdul moyeed" userId="2c9f102d792eb535" providerId="LiveId" clId="{C6A6C2A3-CE20-4F5E-A0F6-7DFEEE90CE54}" dt="2025-10-06T01:08:15.769" v="16"/>
          <ac:spMkLst>
            <pc:docMk/>
            <pc:sldMk cId="1696792912" sldId="354"/>
            <ac:spMk id="7" creationId="{B5CF8B6A-6AA4-2B24-0FF6-92FD593865B9}"/>
          </ac:spMkLst>
        </pc:spChg>
        <pc:spChg chg="add del mod">
          <ac:chgData name="Abdul moyeed" userId="2c9f102d792eb535" providerId="LiveId" clId="{C6A6C2A3-CE20-4F5E-A0F6-7DFEEE90CE54}" dt="2025-10-06T01:09:20.928" v="22"/>
          <ac:spMkLst>
            <pc:docMk/>
            <pc:sldMk cId="1696792912" sldId="354"/>
            <ac:spMk id="8" creationId="{C04C34A7-49C7-8AB1-92A4-A7A10062751F}"/>
          </ac:spMkLst>
        </pc:spChg>
        <pc:picChg chg="add del">
          <ac:chgData name="Abdul moyeed" userId="2c9f102d792eb535" providerId="LiveId" clId="{C6A6C2A3-CE20-4F5E-A0F6-7DFEEE90CE54}" dt="2025-10-06T01:06:36.605" v="2" actId="478"/>
          <ac:picMkLst>
            <pc:docMk/>
            <pc:sldMk cId="1696792912" sldId="354"/>
            <ac:picMk id="11" creationId="{94924F5E-2BE8-7C43-74F1-DE0D89C42310}"/>
          </ac:picMkLst>
        </pc:picChg>
      </pc:sldChg>
      <pc:sldChg chg="del">
        <pc:chgData name="Abdul moyeed" userId="2c9f102d792eb535" providerId="LiveId" clId="{C6A6C2A3-CE20-4F5E-A0F6-7DFEEE90CE54}" dt="2025-10-06T01:11:59.561" v="91" actId="47"/>
        <pc:sldMkLst>
          <pc:docMk/>
          <pc:sldMk cId="553039707" sldId="361"/>
        </pc:sldMkLst>
      </pc:sldChg>
      <pc:sldChg chg="modSp add mod">
        <pc:chgData name="Abdul moyeed" userId="2c9f102d792eb535" providerId="LiveId" clId="{C6A6C2A3-CE20-4F5E-A0F6-7DFEEE90CE54}" dt="2025-10-06T01:11:32.702" v="89" actId="255"/>
        <pc:sldMkLst>
          <pc:docMk/>
          <pc:sldMk cId="3334658407" sldId="364"/>
        </pc:sldMkLst>
        <pc:spChg chg="mod">
          <ac:chgData name="Abdul moyeed" userId="2c9f102d792eb535" providerId="LiveId" clId="{C6A6C2A3-CE20-4F5E-A0F6-7DFEEE90CE54}" dt="2025-10-06T01:11:32.702" v="89" actId="255"/>
          <ac:spMkLst>
            <pc:docMk/>
            <pc:sldMk cId="3334658407" sldId="364"/>
            <ac:spMk id="4" creationId="{84E4840C-EABB-B941-F51A-33EEDD3104B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12033 4667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12880 4032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7334 4688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12859 3948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17896 2085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19844 2572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8816 6276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9112 7715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6974 11229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6974 11229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9663 10467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6T01:04:41.7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9663 10467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12033 4667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12880 4032 16383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7334 4688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12859 3948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17896 2085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19844 2572 16383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8816 6276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9112 7715 16383 0 0,'0'0'0'0'0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6974 11229 16383 0 0,'0'0'0'0'0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6974 11229 16383 0 0,'0'0'0'0'0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9663 10467 16383 0 0,'0'0'0'0'0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9663 10467 16383 0 0,'0'0'0'0'0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11991 4667 16383 0 0,'0'0'0'0'0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12033 4667 16383 0 0,'0'0'0'0'0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12880 4032 16383 0 0,'0'0'0'0'0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7334 4688 16383 0 0,'0'0'0'0'0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12859 3948 16383 0 0,'0'0'0'0'0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17896 2085 16383 0 0,'0'0'0'0'0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19844 2572 16383 0 0,'0'0'0'0'0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8816 6276 16383 0 0,'0'0'0'0'0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9112 7715 16383 0 0,'0'0'0'0'0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6974 11229 16383 0 0,'0'0'0'0'0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6974 11229 16383 0 0,'0'0'0'0'0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9663 10467 16383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23:54:14.6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9663 10467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/>
          <a:lstStyle>
            <a:lvl1pPr>
              <a:defRPr sz="20000"/>
            </a:lvl1pPr>
          </a:lstStyle>
          <a:p>
            <a:r>
              <a:rPr lang="en-US" dirty="0"/>
              <a:t>“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Picture Placeholder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9" name="Picture Placeholder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4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  <p:sldLayoutId id="2147483685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customXml" Target="../ink/ink11.xml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12" Type="http://schemas.openxmlformats.org/officeDocument/2006/relationships/customXml" Target="../ink/ink10.xml"/><Relationship Id="rId17" Type="http://schemas.openxmlformats.org/officeDocument/2006/relationships/customXml" Target="../ink/ink15.xml"/><Relationship Id="rId2" Type="http://schemas.openxmlformats.org/officeDocument/2006/relationships/customXml" Target="../ink/ink1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4.xml"/><Relationship Id="rId11" Type="http://schemas.openxmlformats.org/officeDocument/2006/relationships/customXml" Target="../ink/ink9.xml"/><Relationship Id="rId5" Type="http://schemas.openxmlformats.org/officeDocument/2006/relationships/customXml" Target="../ink/ink3.xml"/><Relationship Id="rId15" Type="http://schemas.openxmlformats.org/officeDocument/2006/relationships/customXml" Target="../ink/ink13.xml"/><Relationship Id="rId10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customXml" Target="../ink/ink7.xml"/><Relationship Id="rId14" Type="http://schemas.openxmlformats.org/officeDocument/2006/relationships/customXml" Target="../ink/ink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customXml" Target="../ink/ink26.xml"/><Relationship Id="rId3" Type="http://schemas.openxmlformats.org/officeDocument/2006/relationships/image" Target="../media/image1.png"/><Relationship Id="rId7" Type="http://schemas.openxmlformats.org/officeDocument/2006/relationships/customXml" Target="../ink/ink20.xml"/><Relationship Id="rId12" Type="http://schemas.openxmlformats.org/officeDocument/2006/relationships/customXml" Target="../ink/ink25.xml"/><Relationship Id="rId17" Type="http://schemas.openxmlformats.org/officeDocument/2006/relationships/customXml" Target="../ink/ink30.xml"/><Relationship Id="rId2" Type="http://schemas.openxmlformats.org/officeDocument/2006/relationships/customXml" Target="../ink/ink16.xml"/><Relationship Id="rId16" Type="http://schemas.openxmlformats.org/officeDocument/2006/relationships/customXml" Target="../ink/ink29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19.xml"/><Relationship Id="rId11" Type="http://schemas.openxmlformats.org/officeDocument/2006/relationships/customXml" Target="../ink/ink24.xml"/><Relationship Id="rId5" Type="http://schemas.openxmlformats.org/officeDocument/2006/relationships/customXml" Target="../ink/ink18.xml"/><Relationship Id="rId15" Type="http://schemas.openxmlformats.org/officeDocument/2006/relationships/customXml" Target="../ink/ink28.xml"/><Relationship Id="rId10" Type="http://schemas.openxmlformats.org/officeDocument/2006/relationships/customXml" Target="../ink/ink23.xml"/><Relationship Id="rId4" Type="http://schemas.openxmlformats.org/officeDocument/2006/relationships/customXml" Target="../ink/ink17.xml"/><Relationship Id="rId9" Type="http://schemas.openxmlformats.org/officeDocument/2006/relationships/customXml" Target="../ink/ink22.xml"/><Relationship Id="rId14" Type="http://schemas.openxmlformats.org/officeDocument/2006/relationships/customXml" Target="../ink/ink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customXml" Target="../ink/ink41.xml"/><Relationship Id="rId3" Type="http://schemas.openxmlformats.org/officeDocument/2006/relationships/image" Target="../media/image1.png"/><Relationship Id="rId7" Type="http://schemas.openxmlformats.org/officeDocument/2006/relationships/customXml" Target="../ink/ink35.xml"/><Relationship Id="rId12" Type="http://schemas.openxmlformats.org/officeDocument/2006/relationships/customXml" Target="../ink/ink40.xml"/><Relationship Id="rId17" Type="http://schemas.openxmlformats.org/officeDocument/2006/relationships/customXml" Target="../ink/ink45.xml"/><Relationship Id="rId2" Type="http://schemas.openxmlformats.org/officeDocument/2006/relationships/customXml" Target="../ink/ink31.xml"/><Relationship Id="rId16" Type="http://schemas.openxmlformats.org/officeDocument/2006/relationships/customXml" Target="../ink/ink44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34.xml"/><Relationship Id="rId11" Type="http://schemas.openxmlformats.org/officeDocument/2006/relationships/customXml" Target="../ink/ink39.xml"/><Relationship Id="rId5" Type="http://schemas.openxmlformats.org/officeDocument/2006/relationships/customXml" Target="../ink/ink33.xml"/><Relationship Id="rId15" Type="http://schemas.openxmlformats.org/officeDocument/2006/relationships/customXml" Target="../ink/ink43.xml"/><Relationship Id="rId10" Type="http://schemas.openxmlformats.org/officeDocument/2006/relationships/customXml" Target="../ink/ink38.xml"/><Relationship Id="rId4" Type="http://schemas.openxmlformats.org/officeDocument/2006/relationships/customXml" Target="../ink/ink32.xml"/><Relationship Id="rId9" Type="http://schemas.openxmlformats.org/officeDocument/2006/relationships/customXml" Target="../ink/ink37.xml"/><Relationship Id="rId14" Type="http://schemas.openxmlformats.org/officeDocument/2006/relationships/customXml" Target="../ink/ink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RAG + LLM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CC17-4660-124A-8996-54F15FD169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0" tIns="0" rIns="0" bIns="0" anchor="t"/>
          <a:lstStyle/>
          <a:p>
            <a:r>
              <a:rPr lang="en-US" b="1" dirty="0"/>
              <a:t>ABDUL MOYEED   1RN23CD400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D303126-B98F-90DF-FC99-3EC64B043F02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D303126-B98F-90DF-FC99-3EC64B043F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9299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6A98F0C-B9ED-7F6E-7B11-5ADAE29505B7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6A98F0C-B9ED-7F6E-7B11-5ADAE29505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9299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BD448B0-DC92-7027-CCD6-E583F644FCD4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BD448B0-DC92-7027-CCD6-E583F644FC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9299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2AFA3A5-3EC0-721B-42B7-7B2423F1279A}"/>
                  </a:ext>
                </a:extLst>
              </p14:cNvPr>
              <p14:cNvContentPartPr/>
              <p14:nvPr/>
            </p14:nvContentPartPr>
            <p14:xfrm>
              <a:off x="3627783" y="1841500"/>
              <a:ext cx="13804" cy="13804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2AFA3A5-3EC0-721B-42B7-7B2423F127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7583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1D17C58-F72E-E266-97CC-6A54D2602B35}"/>
                  </a:ext>
                </a:extLst>
              </p14:cNvPr>
              <p14:cNvContentPartPr/>
              <p14:nvPr/>
            </p14:nvContentPartPr>
            <p14:xfrm>
              <a:off x="4069522" y="1510195"/>
              <a:ext cx="13804" cy="13804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1D17C58-F72E-E266-97CC-6A54D2602B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3126" y="819995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07AF358-1121-6B9A-82A8-E0A4E05BB21C}"/>
                  </a:ext>
                </a:extLst>
              </p14:cNvPr>
              <p14:cNvContentPartPr/>
              <p14:nvPr/>
            </p14:nvContentPartPr>
            <p14:xfrm>
              <a:off x="1176130" y="1852543"/>
              <a:ext cx="13804" cy="13804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07AF358-1121-6B9A-82A8-E0A4E05BB2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930" y="1162343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0C16D71-8ADD-3FF5-4AF0-6DC27DA15084}"/>
                  </a:ext>
                </a:extLst>
              </p14:cNvPr>
              <p14:cNvContentPartPr/>
              <p14:nvPr/>
            </p14:nvContentPartPr>
            <p14:xfrm>
              <a:off x="4058479" y="1466021"/>
              <a:ext cx="13804" cy="13804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0C16D71-8ADD-3FF5-4AF0-6DC27DA150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2083" y="789625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0AECFFE3-29ED-546C-2973-BCA8A55FE1D8}"/>
              </a:ext>
            </a:extLst>
          </p:cNvPr>
          <p:cNvSpPr txBox="1"/>
          <p:nvPr/>
        </p:nvSpPr>
        <p:spPr>
          <a:xfrm>
            <a:off x="1138278" y="1087507"/>
            <a:ext cx="990927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 Preparation &amp; Shutdown Detection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6EE0034-6D60-1EB2-4942-2D6697E8309A}"/>
                  </a:ext>
                </a:extLst>
              </p14:cNvPr>
              <p14:cNvContentPartPr/>
              <p14:nvPr/>
            </p14:nvContentPartPr>
            <p14:xfrm>
              <a:off x="6686826" y="494196"/>
              <a:ext cx="13804" cy="13804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6EE0034-6D60-1EB2-4942-2D6697E830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6626" y="-1822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A682F2D-DCD4-8C0E-464C-053FBEEE4E86}"/>
                  </a:ext>
                </a:extLst>
              </p14:cNvPr>
              <p14:cNvContentPartPr/>
              <p14:nvPr/>
            </p14:nvContentPartPr>
            <p14:xfrm>
              <a:off x="7702826" y="748195"/>
              <a:ext cx="13804" cy="13804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A682F2D-DCD4-8C0E-464C-053FBEEE4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6430" y="71799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FC082861-E554-7155-DE5B-97F57A8FD21F}"/>
              </a:ext>
            </a:extLst>
          </p:cNvPr>
          <p:cNvSpPr txBox="1"/>
          <p:nvPr/>
        </p:nvSpPr>
        <p:spPr>
          <a:xfrm>
            <a:off x="193216" y="2097785"/>
            <a:ext cx="11744839" cy="4609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9A39C6D-6CCB-F140-D6DD-A02CAF2A45C2}"/>
                  </a:ext>
                </a:extLst>
              </p14:cNvPr>
              <p14:cNvContentPartPr/>
              <p14:nvPr/>
            </p14:nvContentPartPr>
            <p14:xfrm>
              <a:off x="1949174" y="2680804"/>
              <a:ext cx="13804" cy="13804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9A39C6D-6CCB-F140-D6DD-A02CAF2A45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2778" y="2004408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C31C056-5D29-1563-620B-BCE8E25830F1}"/>
                  </a:ext>
                </a:extLst>
              </p14:cNvPr>
              <p14:cNvContentPartPr/>
              <p14:nvPr/>
            </p14:nvContentPartPr>
            <p14:xfrm>
              <a:off x="2103782" y="3431761"/>
              <a:ext cx="13804" cy="13804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C31C056-5D29-1563-620B-BCE8E25830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3582" y="2741561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0A2CAE3B-E087-5FB4-E0F5-105525DFBE97}"/>
              </a:ext>
            </a:extLst>
          </p:cNvPr>
          <p:cNvSpPr txBox="1"/>
          <p:nvPr/>
        </p:nvSpPr>
        <p:spPr>
          <a:xfrm>
            <a:off x="258718" y="2489083"/>
            <a:ext cx="11675833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Converted timestamps to datetime and interpolated missing values</a:t>
            </a:r>
            <a:endParaRPr lang="en-US" dirty="0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Removed outliers using percentile-based filtering</a:t>
            </a:r>
            <a:endParaRPr lang="en-US" dirty="0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Defined shutdowns as 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Cyclone_Inlet_Gas_Temp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&lt; 100°C</a:t>
            </a:r>
            <a:endParaRPr lang="en-US" dirty="0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Calculated duration and frequency of shutdown events</a:t>
            </a:r>
            <a:endParaRPr lang="en-US" dirty="0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endParaRPr lang="en-US" dirty="0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Total Shutdowns: 62</a:t>
            </a:r>
            <a:endParaRPr lang="en-US" dirty="0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Total Downtime: 5146 hours</a:t>
            </a:r>
            <a:endParaRPr lang="en-US" dirty="0"/>
          </a:p>
          <a:p>
            <a:pPr algn="l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BE1AAA-68D1-9910-FFD9-13B57FDADACE}"/>
                  </a:ext>
                </a:extLst>
              </p14:cNvPr>
              <p14:cNvContentPartPr/>
              <p14:nvPr/>
            </p14:nvContentPartPr>
            <p14:xfrm>
              <a:off x="988391" y="5264978"/>
              <a:ext cx="13804" cy="13804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BE1AAA-68D1-9910-FFD9-13B57FDADA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191" y="4588582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7BAF491-29BF-5631-5936-8810CC895A06}"/>
                  </a:ext>
                </a:extLst>
              </p14:cNvPr>
              <p14:cNvContentPartPr/>
              <p14:nvPr/>
            </p14:nvContentPartPr>
            <p14:xfrm>
              <a:off x="988391" y="5264978"/>
              <a:ext cx="13804" cy="13804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7BAF491-29BF-5631-5936-8810CC895A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191" y="4588582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FD03431-526D-9636-7011-3CFEB8A20B1F}"/>
                  </a:ext>
                </a:extLst>
              </p14:cNvPr>
              <p14:cNvContentPartPr/>
              <p14:nvPr/>
            </p14:nvContentPartPr>
            <p14:xfrm>
              <a:off x="2390913" y="4867414"/>
              <a:ext cx="13804" cy="13804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FD03431-526D-9636-7011-3CFEB8A20B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4517" y="4191018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78A459-8988-03F4-4645-772D6F1D073F}"/>
                  </a:ext>
                </a:extLst>
              </p14:cNvPr>
              <p14:cNvContentPartPr/>
              <p14:nvPr/>
            </p14:nvContentPartPr>
            <p14:xfrm>
              <a:off x="2390913" y="4867414"/>
              <a:ext cx="13804" cy="13804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78A459-8988-03F4-4645-772D6F1D07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4517" y="4191018"/>
                <a:ext cx="1380400" cy="13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1825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76A2-893F-0C0A-09E3-C67ED785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38D2AE8-A1F5-34B3-C635-EB0E8A50040A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38D2AE8-A1F5-34B3-C635-EB0E8A5004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5495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C5D3051-08BB-CE90-84FC-A726A6398820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C5D3051-08BB-CE90-84FC-A726A63988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5495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9FF2971-ACBA-E5BF-6C15-F3B2C1F0ED70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9FF2971-ACBA-E5BF-6C15-F3B2C1F0ED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5495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B680AAF-7D43-D0CD-1DC8-64FF96B37D1A}"/>
                  </a:ext>
                </a:extLst>
              </p14:cNvPr>
              <p14:cNvContentPartPr/>
              <p14:nvPr/>
            </p14:nvContentPartPr>
            <p14:xfrm>
              <a:off x="3627783" y="1841500"/>
              <a:ext cx="13804" cy="13804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B680AAF-7D43-D0CD-1DC8-64FF96B37D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7583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62F5EE5-C6C1-D11E-D6F1-839C007E3313}"/>
                  </a:ext>
                </a:extLst>
              </p14:cNvPr>
              <p14:cNvContentPartPr/>
              <p14:nvPr/>
            </p14:nvContentPartPr>
            <p14:xfrm>
              <a:off x="4069522" y="1510195"/>
              <a:ext cx="13804" cy="13804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62F5EE5-C6C1-D11E-D6F1-839C007E33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9322" y="819995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687DC6A-D924-9D97-95A3-C94F6C2D5985}"/>
                  </a:ext>
                </a:extLst>
              </p14:cNvPr>
              <p14:cNvContentPartPr/>
              <p14:nvPr/>
            </p14:nvContentPartPr>
            <p14:xfrm>
              <a:off x="1176130" y="1852543"/>
              <a:ext cx="13804" cy="13804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687DC6A-D924-9D97-95A3-C94F6C2D59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930" y="1162343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BD05FA1-28CF-0C12-A5D2-31D2C2D7A3D6}"/>
                  </a:ext>
                </a:extLst>
              </p14:cNvPr>
              <p14:cNvContentPartPr/>
              <p14:nvPr/>
            </p14:nvContentPartPr>
            <p14:xfrm>
              <a:off x="4058479" y="1466021"/>
              <a:ext cx="13804" cy="13804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BD05FA1-28CF-0C12-A5D2-31D2C2D7A3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8279" y="775821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3D44C5C-EB1B-D687-089E-8E1704B02A13}"/>
                  </a:ext>
                </a:extLst>
              </p14:cNvPr>
              <p14:cNvContentPartPr/>
              <p14:nvPr/>
            </p14:nvContentPartPr>
            <p14:xfrm>
              <a:off x="6686826" y="494196"/>
              <a:ext cx="13804" cy="13804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3D44C5C-EB1B-D687-089E-8E1704B02A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6626" y="-196004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3B95773-994B-C1C3-D3D7-D089009DC9A4}"/>
                  </a:ext>
                </a:extLst>
              </p14:cNvPr>
              <p14:cNvContentPartPr/>
              <p14:nvPr/>
            </p14:nvContentPartPr>
            <p14:xfrm>
              <a:off x="7702826" y="748195"/>
              <a:ext cx="13804" cy="13804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3B95773-994B-C1C3-D3D7-D089009DC9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2626" y="57995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75ABDDD-2B85-060F-E639-068EF03B7674}"/>
              </a:ext>
            </a:extLst>
          </p:cNvPr>
          <p:cNvSpPr txBox="1"/>
          <p:nvPr/>
        </p:nvSpPr>
        <p:spPr>
          <a:xfrm>
            <a:off x="193216" y="2097785"/>
            <a:ext cx="11744839" cy="4609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133FBE9-FECD-3D0E-C3E4-175F822D3B07}"/>
                  </a:ext>
                </a:extLst>
              </p14:cNvPr>
              <p14:cNvContentPartPr/>
              <p14:nvPr/>
            </p14:nvContentPartPr>
            <p14:xfrm>
              <a:off x="1949174" y="2680804"/>
              <a:ext cx="13804" cy="13804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133FBE9-FECD-3D0E-C3E4-175F822D3B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8974" y="1990604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E42B627-9E46-B58A-5437-7C6B5BB63A1E}"/>
                  </a:ext>
                </a:extLst>
              </p14:cNvPr>
              <p14:cNvContentPartPr/>
              <p14:nvPr/>
            </p14:nvContentPartPr>
            <p14:xfrm>
              <a:off x="2103782" y="3431761"/>
              <a:ext cx="13804" cy="13804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E42B627-9E46-B58A-5437-7C6B5BB63A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3582" y="2741561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2085EF0-DD35-4A5B-A653-C151C9E37501}"/>
                  </a:ext>
                </a:extLst>
              </p14:cNvPr>
              <p14:cNvContentPartPr/>
              <p14:nvPr/>
            </p14:nvContentPartPr>
            <p14:xfrm>
              <a:off x="988391" y="5264978"/>
              <a:ext cx="13804" cy="13804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2085EF0-DD35-4A5B-A653-C151C9E375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191" y="4574778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95D1BB3-00EA-B5C5-955E-548E17627973}"/>
                  </a:ext>
                </a:extLst>
              </p14:cNvPr>
              <p14:cNvContentPartPr/>
              <p14:nvPr/>
            </p14:nvContentPartPr>
            <p14:xfrm>
              <a:off x="988391" y="5264978"/>
              <a:ext cx="13804" cy="13804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95D1BB3-00EA-B5C5-955E-548E176279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191" y="4574778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FA7F604-9596-9751-DA67-9108645AE135}"/>
                  </a:ext>
                </a:extLst>
              </p14:cNvPr>
              <p14:cNvContentPartPr/>
              <p14:nvPr/>
            </p14:nvContentPartPr>
            <p14:xfrm>
              <a:off x="2390913" y="4867414"/>
              <a:ext cx="13804" cy="13804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FA7F604-9596-9751-DA67-9108645AE1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13" y="4177214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8E53D88-30D5-19DC-C744-F1B29C7487B5}"/>
                  </a:ext>
                </a:extLst>
              </p14:cNvPr>
              <p14:cNvContentPartPr/>
              <p14:nvPr/>
            </p14:nvContentPartPr>
            <p14:xfrm>
              <a:off x="2390913" y="4867414"/>
              <a:ext cx="13804" cy="13804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8E53D88-30D5-19DC-C744-F1B29C7487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13" y="4177214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50F4425-286E-0F36-DCF0-D8E8FDE9BF89}"/>
              </a:ext>
            </a:extLst>
          </p:cNvPr>
          <p:cNvSpPr txBox="1"/>
          <p:nvPr/>
        </p:nvSpPr>
        <p:spPr>
          <a:xfrm>
            <a:off x="1090296" y="952284"/>
            <a:ext cx="99506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9ED78-8984-2B6D-E4D0-A7F2AAE834E0}"/>
              </a:ext>
            </a:extLst>
          </p:cNvPr>
          <p:cNvSpPr txBox="1"/>
          <p:nvPr/>
        </p:nvSpPr>
        <p:spPr>
          <a:xfrm>
            <a:off x="207018" y="2152990"/>
            <a:ext cx="11772442" cy="4512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5AEC4-6DBB-3649-AF1D-854B16AE8133}"/>
              </a:ext>
            </a:extLst>
          </p:cNvPr>
          <p:cNvSpPr txBox="1"/>
          <p:nvPr/>
        </p:nvSpPr>
        <p:spPr>
          <a:xfrm>
            <a:off x="1021289" y="897079"/>
            <a:ext cx="10157699" cy="786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Clustering &amp; Anomaly Detection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40F9E-BB34-92F0-488C-4B1FB6CCABEC}"/>
              </a:ext>
            </a:extLst>
          </p:cNvPr>
          <p:cNvSpPr txBox="1"/>
          <p:nvPr/>
        </p:nvSpPr>
        <p:spPr>
          <a:xfrm>
            <a:off x="561273" y="2468916"/>
            <a:ext cx="1163442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Applied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KMeans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clustering on active periods → machine states</a:t>
            </a:r>
            <a:endParaRPr lang="en-US" sz="2800" dirty="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Identified 3 main clusters:</a:t>
            </a:r>
            <a:endParaRPr lang="en-US" sz="2800" dirty="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  - Normal (55%)</a:t>
            </a:r>
            <a:endParaRPr lang="en-US" sz="2800" dirty="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  - High Load (25%)</a:t>
            </a:r>
            <a:endParaRPr lang="en-US" sz="2800" dirty="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  - Degraded (20%)</a:t>
            </a:r>
            <a:endParaRPr lang="en-US" sz="2800" dirty="0"/>
          </a:p>
          <a:p>
            <a:endParaRPr lang="en-US" sz="2800" dirty="0">
              <a:latin typeface="Arial"/>
              <a:cs typeface="Arial"/>
            </a:endParaRPr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Isolation Forest per cluster for contextual anomaly detection</a:t>
            </a:r>
            <a:endParaRPr lang="en-US" sz="2800" dirty="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Majority of anomalies occurred in Degraded state before shutdowns</a:t>
            </a:r>
            <a:endParaRPr lang="en-US" sz="2800" dirty="0"/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6658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09F2-D6DD-EB93-A8F1-571A7E14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39DB43A-0060-3284-CA76-23A060A8CD7B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39DB43A-0060-3284-CA76-23A060A8CD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5495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4A7FB40-2770-AE7E-8A79-DA781F892FB0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4A7FB40-2770-AE7E-8A79-DA781F892F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5495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49DEA7-284F-BA67-93FF-AFEB0837D737}"/>
                  </a:ext>
                </a:extLst>
              </p14:cNvPr>
              <p14:cNvContentPartPr/>
              <p14:nvPr/>
            </p14:nvContentPartPr>
            <p14:xfrm>
              <a:off x="3605695" y="1841500"/>
              <a:ext cx="13804" cy="13804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49DEA7-284F-BA67-93FF-AFEB0837D7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5495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FEF127A-E894-C085-7252-F3DEC78CF2B0}"/>
                  </a:ext>
                </a:extLst>
              </p14:cNvPr>
              <p14:cNvContentPartPr/>
              <p14:nvPr/>
            </p14:nvContentPartPr>
            <p14:xfrm>
              <a:off x="3627783" y="1841500"/>
              <a:ext cx="13804" cy="13804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FEF127A-E894-C085-7252-F3DEC78CF2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7583" y="1151300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48E1362-51C9-76CE-BC14-EEFE5C91FCA6}"/>
                  </a:ext>
                </a:extLst>
              </p14:cNvPr>
              <p14:cNvContentPartPr/>
              <p14:nvPr/>
            </p14:nvContentPartPr>
            <p14:xfrm>
              <a:off x="4069522" y="1510195"/>
              <a:ext cx="13804" cy="13804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48E1362-51C9-76CE-BC14-EEFE5C91FC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9322" y="819995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0C4805D-4646-3BE2-C93B-ABB94EA491EF}"/>
                  </a:ext>
                </a:extLst>
              </p14:cNvPr>
              <p14:cNvContentPartPr/>
              <p14:nvPr/>
            </p14:nvContentPartPr>
            <p14:xfrm>
              <a:off x="1176130" y="1852543"/>
              <a:ext cx="13804" cy="13804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0C4805D-4646-3BE2-C93B-ABB94EA491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930" y="1162343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0478359-073F-1DE1-14FF-67B4A883A55E}"/>
                  </a:ext>
                </a:extLst>
              </p14:cNvPr>
              <p14:cNvContentPartPr/>
              <p14:nvPr/>
            </p14:nvContentPartPr>
            <p14:xfrm>
              <a:off x="4058479" y="1466021"/>
              <a:ext cx="13804" cy="13804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0478359-073F-1DE1-14FF-67B4A883A5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8279" y="775821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82D72E9-B1A2-9CF5-9026-1237B0A07DC0}"/>
                  </a:ext>
                </a:extLst>
              </p14:cNvPr>
              <p14:cNvContentPartPr/>
              <p14:nvPr/>
            </p14:nvContentPartPr>
            <p14:xfrm>
              <a:off x="6686826" y="494196"/>
              <a:ext cx="13804" cy="13804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82D72E9-B1A2-9CF5-9026-1237B0A07D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6626" y="-196004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80F57D5-B1CD-829C-01E6-E2A008D87897}"/>
                  </a:ext>
                </a:extLst>
              </p14:cNvPr>
              <p14:cNvContentPartPr/>
              <p14:nvPr/>
            </p14:nvContentPartPr>
            <p14:xfrm>
              <a:off x="7702826" y="748195"/>
              <a:ext cx="13804" cy="13804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80F57D5-B1CD-829C-01E6-E2A008D878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2626" y="57995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6E2F56A-FE8C-6709-7C7A-760812827B82}"/>
              </a:ext>
            </a:extLst>
          </p:cNvPr>
          <p:cNvSpPr txBox="1"/>
          <p:nvPr/>
        </p:nvSpPr>
        <p:spPr>
          <a:xfrm>
            <a:off x="193216" y="2097785"/>
            <a:ext cx="11744839" cy="4609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89F0B01-D5AD-D82D-FDD6-20C67C70CFEF}"/>
                  </a:ext>
                </a:extLst>
              </p14:cNvPr>
              <p14:cNvContentPartPr/>
              <p14:nvPr/>
            </p14:nvContentPartPr>
            <p14:xfrm>
              <a:off x="1949174" y="2680804"/>
              <a:ext cx="13804" cy="13804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89F0B01-D5AD-D82D-FDD6-20C67C70CF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8974" y="1990604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C984492-303A-31E7-95B2-FBD46A181C63}"/>
                  </a:ext>
                </a:extLst>
              </p14:cNvPr>
              <p14:cNvContentPartPr/>
              <p14:nvPr/>
            </p14:nvContentPartPr>
            <p14:xfrm>
              <a:off x="2103782" y="3431761"/>
              <a:ext cx="13804" cy="13804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C984492-303A-31E7-95B2-FBD46A181C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3582" y="2741561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A687AE5-592F-4A00-E00B-405C38FD8D80}"/>
                  </a:ext>
                </a:extLst>
              </p14:cNvPr>
              <p14:cNvContentPartPr/>
              <p14:nvPr/>
            </p14:nvContentPartPr>
            <p14:xfrm>
              <a:off x="988391" y="5264978"/>
              <a:ext cx="13804" cy="13804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A687AE5-592F-4A00-E00B-405C38FD8D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191" y="4574778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29E8253-4344-0A0F-38FF-CC8D85525BD3}"/>
                  </a:ext>
                </a:extLst>
              </p14:cNvPr>
              <p14:cNvContentPartPr/>
              <p14:nvPr/>
            </p14:nvContentPartPr>
            <p14:xfrm>
              <a:off x="988391" y="5264978"/>
              <a:ext cx="13804" cy="13804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29E8253-4344-0A0F-38FF-CC8D85525B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191" y="4574778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82A8C25-58FC-FBF0-CD1E-58110243B9FD}"/>
                  </a:ext>
                </a:extLst>
              </p14:cNvPr>
              <p14:cNvContentPartPr/>
              <p14:nvPr/>
            </p14:nvContentPartPr>
            <p14:xfrm>
              <a:off x="2390913" y="4867414"/>
              <a:ext cx="13804" cy="13804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82A8C25-58FC-FBF0-CD1E-58110243B9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13" y="4177214"/>
                <a:ext cx="1380400" cy="1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D1CD048-999B-3F6B-2FEF-996FFE62862A}"/>
                  </a:ext>
                </a:extLst>
              </p14:cNvPr>
              <p14:cNvContentPartPr/>
              <p14:nvPr/>
            </p14:nvContentPartPr>
            <p14:xfrm>
              <a:off x="2390913" y="4867414"/>
              <a:ext cx="13804" cy="13804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D1CD048-999B-3F6B-2FEF-996FFE6286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13" y="4177214"/>
                <a:ext cx="1380400" cy="13804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F032BB4-7323-36CE-910F-35DD4E76B5E5}"/>
              </a:ext>
            </a:extLst>
          </p:cNvPr>
          <p:cNvSpPr txBox="1"/>
          <p:nvPr/>
        </p:nvSpPr>
        <p:spPr>
          <a:xfrm>
            <a:off x="1090296" y="952284"/>
            <a:ext cx="99506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46CEB-05F0-9FCD-2F55-138B8E8F57CD}"/>
              </a:ext>
            </a:extLst>
          </p:cNvPr>
          <p:cNvSpPr txBox="1"/>
          <p:nvPr/>
        </p:nvSpPr>
        <p:spPr>
          <a:xfrm>
            <a:off x="207018" y="2152990"/>
            <a:ext cx="11772442" cy="4512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71C81-8431-39AC-8E8E-4AA8EC5E4C2D}"/>
              </a:ext>
            </a:extLst>
          </p:cNvPr>
          <p:cNvSpPr txBox="1"/>
          <p:nvPr/>
        </p:nvSpPr>
        <p:spPr>
          <a:xfrm>
            <a:off x="1117898" y="1062693"/>
            <a:ext cx="98678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Forecasting &amp; Key Insights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B9237-5DBE-A892-56E5-63281D50AD18}"/>
              </a:ext>
            </a:extLst>
          </p:cNvPr>
          <p:cNvSpPr txBox="1"/>
          <p:nvPr/>
        </p:nvSpPr>
        <p:spPr>
          <a:xfrm>
            <a:off x="409460" y="2390256"/>
            <a:ext cx="1152402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ARIMA model used for short-term forecasting (1-hour horizon)</a:t>
            </a:r>
            <a:endParaRPr lang="en-US" sz="2800"/>
          </a:p>
          <a:p>
            <a:r>
              <a:rPr lang="en-US" sz="280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Persistence → </a:t>
            </a: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RMSE: 21.31  MAE: 12.45</a:t>
            </a:r>
            <a:endParaRPr lang="en-US" sz="28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    ARIMA → RMSE: 22.64  MAE: 12.63</a:t>
            </a:r>
            <a:endParaRPr lang="en-US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Key Insights:</a:t>
            </a:r>
            <a:r>
              <a:rPr lang="en-US" sz="2800" dirty="0">
                <a:solidFill>
                  <a:srgbClr val="FFFFFF"/>
                </a:solidFill>
                <a:latin typeface="Arial"/>
                <a:ea typeface="+mn-lt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Degraded state shows highest anomaly frequency.</a:t>
            </a:r>
            <a:endParaRPr lang="en-US" sz="280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70% of shutdowns preceded by instability within 30–60 mins.</a:t>
            </a:r>
            <a:endParaRPr lang="en-US" sz="2800"/>
          </a:p>
          <a:p>
            <a:r>
              <a:rPr lang="en-US" sz="2800" dirty="0">
                <a:latin typeface="Arial"/>
                <a:cs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Forecasting provides early warning potential.</a:t>
            </a:r>
          </a:p>
          <a:p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2800" dirty="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560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E4840C-EABB-B941-F51A-33EEDD3104BD}"/>
              </a:ext>
            </a:extLst>
          </p:cNvPr>
          <p:cNvSpPr txBox="1"/>
          <p:nvPr/>
        </p:nvSpPr>
        <p:spPr>
          <a:xfrm>
            <a:off x="843293" y="351117"/>
            <a:ext cx="11648231" cy="6894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B1C1D"/>
                </a:solidFill>
                <a:ea typeface="+mn-lt"/>
                <a:cs typeface="+mn-lt"/>
              </a:rPr>
              <a:t>                               </a:t>
            </a:r>
            <a:r>
              <a:rPr lang="en-US" sz="2800" dirty="0">
                <a:solidFill>
                  <a:srgbClr val="1B1C1D"/>
                </a:solidFill>
                <a:ea typeface="+mn-lt"/>
                <a:cs typeface="+mn-lt"/>
              </a:rPr>
              <a:t> architecture diagram for a RAG and LLM system.</a:t>
            </a:r>
            <a:endParaRPr lang="en-US" sz="2800" dirty="0"/>
          </a:p>
          <a:p>
            <a:r>
              <a:rPr lang="en-US" sz="1100" dirty="0">
                <a:solidFill>
                  <a:srgbClr val="575B5F"/>
                </a:solidFill>
                <a:latin typeface="Consolas"/>
              </a:rPr>
              <a:t>+--------------------------+     +-----------------------+     +--------------------------+     +---------------------+
|                          |     |                       |     |                          |     |                     |
|  1. Document Ingestion   |     |  2. Indexing Pipeline |     |  3. Retrieval &amp; LLM Core |     |  4. Guardrails &amp;    |
|  &amp; Preprocessing         |     |                       |     |                          |     |     Output          |
|                          |     |                       |     |                          |     |                     |
+--------------------------+     +-----------------------+     +--------------------------+     +---------------------+
        |                                   |                             ^                              |
        | (PDFs, Docs)                      |                             |                              |
        v                                  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                   |                              v
+--------------------------+     +-----------------------+     +--------------------------+     +---------------------+
| Text Extractor           |     | Text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Chunker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|     | User Query               |     | Relevance Check     |
+--------------------------+     +-----------------------+     +--------------------------+     +---------------------+
        |                                   |                             |                              |
        v                                  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                   |                              v
+--------------------------+     +-----------------------+     +--------------------------+     +---------------------+
| Text Cleaner             |     | Embedding Model       |     | Query Embedding          |     | Response Filter     |
+--------------------------+     +-----------------------+     +--------------------------+     +---------------------+
        |                                   |                             |                              |
        v                                  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                   |                              v
[Cleaned Text] --------&gt; [Text Chunks] --&gt; [Vectors] --&gt; +--------------------------+     +---------------------+
                                                          | Vector Database (FAISS)  |     | Final Answer + Source |
                                                          +--------------------------+     +---------------------+
                                                                    |   (Retrieval)             ^
                                                                    |                             |
                                                                    v                             |
                                                          +--------------------------+     +---------------------+
                                                          | Retrieved Chunks         |     | (LLM Output)        |
                                                          +--------------------------+     +---------------------+
                                                                    |                             |
                                                                    v                             |
                                                          +--------------------------+     +---------------------+
                                                          | Prompt Builder           |     | LLM (Flan-T5/Llama) |
                                                          +--------------------------+     +---------------------+
                                                                    |                             ^
                                                                    +-----------------------------+
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5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41ED-7742-1B56-C916-CD6BEFC8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3380-725A-A923-DA42-1729C6C0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RAG 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CD2E8-0131-359A-707D-5AC128C089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9079" y="2188059"/>
            <a:ext cx="11240529" cy="4557059"/>
          </a:xfrm>
        </p:spPr>
        <p:txBody>
          <a:bodyPr lIns="91440" tIns="45720" rIns="91440" bIns="45720" anchor="t"/>
          <a:lstStyle/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Document Ingestion &amp; Preprocessing:</a:t>
            </a:r>
            <a:r>
              <a:rPr lang="en-US" sz="2000" dirty="0">
                <a:ea typeface="+mn-lt"/>
                <a:cs typeface="+mn-lt"/>
              </a:rPr>
              <a:t> Documents are extracted and cleaned to create structured, standardized text ready for processing.</a:t>
            </a:r>
            <a:endParaRPr lang="en-US" sz="2000" b="1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Chunking Strategy:</a:t>
            </a:r>
            <a:r>
              <a:rPr lang="en-US" sz="2000" dirty="0">
                <a:ea typeface="+mn-lt"/>
                <a:cs typeface="+mn-lt"/>
              </a:rPr>
              <a:t> Cleaned text is broken into small, semantically coherent blocks (chunks) with overlap to maintain context across boundaries.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Embeddings &amp; Indexing:</a:t>
            </a:r>
            <a:r>
              <a:rPr lang="en-US" sz="2000" dirty="0">
                <a:ea typeface="+mn-lt"/>
                <a:cs typeface="+mn-lt"/>
              </a:rPr>
              <a:t> A model converts each text chunk into a dense vector, which is stored in a scalable Vector Database (like FAISS) for rapid search.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Retrieval Layer:</a:t>
            </a:r>
            <a:r>
              <a:rPr lang="en-US" sz="2000" dirty="0">
                <a:ea typeface="+mn-lt"/>
                <a:cs typeface="+mn-lt"/>
              </a:rPr>
              <a:t> The user's query is vectorized and used to search the Vector Database for the most relevant document chunks to form the context.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LLM Layer for Answer Generation:</a:t>
            </a:r>
            <a:r>
              <a:rPr lang="en-US" sz="2000" dirty="0">
                <a:ea typeface="+mn-lt"/>
                <a:cs typeface="+mn-lt"/>
              </a:rPr>
              <a:t> A large language model (LLM) synthesizes a final, natural language answer based </a:t>
            </a:r>
            <a:r>
              <a:rPr lang="en-US" sz="2000" i="1" dirty="0">
                <a:ea typeface="+mn-lt"/>
                <a:cs typeface="+mn-lt"/>
              </a:rPr>
              <a:t>only</a:t>
            </a:r>
            <a:r>
              <a:rPr lang="en-US" sz="2000" dirty="0">
                <a:ea typeface="+mn-lt"/>
                <a:cs typeface="+mn-lt"/>
              </a:rPr>
              <a:t> on the retrieved context and the user's query.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Guardrails for Safe and Faithful Responses:</a:t>
            </a:r>
            <a:r>
              <a:rPr lang="en-US" sz="2000" dirty="0">
                <a:ea typeface="+mn-lt"/>
                <a:cs typeface="+mn-lt"/>
              </a:rPr>
              <a:t> Mechanisms are in place to filter unsafe queries, verify the LLM's adherence to the source material, and manage confidence scores to prevent hallucinations.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b="1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284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F5AF-17CE-2B55-67D3-B11E2727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8B90-EAFF-E894-9D82-5023B328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353932" cy="6967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Retrieval Strategy and embedding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A8B2E6-900D-66D6-A202-8DC75EF6A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15197"/>
              </p:ext>
            </p:extLst>
          </p:nvPr>
        </p:nvGraphicFramePr>
        <p:xfrm>
          <a:off x="288323" y="1946189"/>
          <a:ext cx="11633687" cy="467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325">
                  <a:extLst>
                    <a:ext uri="{9D8B030D-6E8A-4147-A177-3AD203B41FA5}">
                      <a16:colId xmlns:a16="http://schemas.microsoft.com/office/drawing/2014/main" val="967479958"/>
                    </a:ext>
                  </a:extLst>
                </a:gridCol>
                <a:gridCol w="5187058">
                  <a:extLst>
                    <a:ext uri="{9D8B030D-6E8A-4147-A177-3AD203B41FA5}">
                      <a16:colId xmlns:a16="http://schemas.microsoft.com/office/drawing/2014/main" val="872261124"/>
                    </a:ext>
                  </a:extLst>
                </a:gridCol>
                <a:gridCol w="4141304">
                  <a:extLst>
                    <a:ext uri="{9D8B030D-6E8A-4147-A177-3AD203B41FA5}">
                      <a16:colId xmlns:a16="http://schemas.microsoft.com/office/drawing/2014/main" val="3262780945"/>
                    </a:ext>
                  </a:extLst>
                </a:gridCol>
              </a:tblGrid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Retrieval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.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Document Chunking Approach :- chunk size 500 words. Overlap :- 100words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Good starting point for large PDFs. Page-level extraction (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pdfplumber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) is robust, and the subsequent chunking handles long pages effectively.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005871"/>
                  </a:ext>
                </a:extLst>
              </a:tr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SentenceTransformer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("all-MiniLM-L6-v2")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chemeClr val="accent5">
                            <a:lumMod val="76000"/>
                          </a:schemeClr>
                        </a:solidFill>
                        <a:latin typeface="Arial Nova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ARCHITECTURE:-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MiniLM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(a distilled BERT model)</a:t>
                      </a:r>
                      <a:endParaRPr lang="en-US" sz="1800" b="0" i="0" u="none" strike="noStrike" noProof="0" dirty="0">
                        <a:solidFill>
                          <a:schemeClr val="accent5">
                            <a:lumMod val="76000"/>
                          </a:schemeClr>
                        </a:solidFill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Strength (Efficiency):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Extremely fast inference speed and small footprint (distilled model).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Low dimensionality reduces vector database size and speeds up vector search (FAISS).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926624"/>
                  </a:ext>
                </a:extLst>
              </a:tr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Retrieval Method and Vector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Method:-</a:t>
                      </a: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Dense Vector Search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(</a:t>
                      </a:r>
                      <a:r>
                        <a:rPr lang="en-US" sz="1800" b="0" i="0" u="none" strike="noStrike" noProof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index.search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(</a:t>
                      </a:r>
                      <a:r>
                        <a:rPr lang="en-US" sz="1800" b="0" i="0" u="none" strike="noStrike" noProof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np.array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(</a:t>
                      </a:r>
                      <a:r>
                        <a:rPr lang="en-US" sz="1800" b="0" i="0" u="none" strike="noStrike" noProof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q_emb</a:t>
                      </a:r>
                      <a:r>
                        <a:rPr lang="en-US" sz="1800" b="0" i="0" u="none" strike="noStrike" noProof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), </a:t>
                      </a:r>
                      <a:r>
                        <a:rPr lang="en-US" sz="1800" b="0" i="0" u="none" strike="noStrike" noProof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top_k</a:t>
                      </a:r>
                      <a:r>
                        <a:rPr lang="en-US" sz="1800" b="0" i="0" u="none" strike="noStrike" noProof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)</a:t>
                      </a:r>
                      <a:r>
                        <a:rPr lang="en-US" sz="1800" b="0" i="0" u="none" strike="noStrike" noProof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)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chemeClr val="accent5">
                            <a:lumMod val="76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Database:-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FAISS (Facebook AI Similarity Search) - 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IndexFlatIP</a:t>
                      </a:r>
                      <a:endParaRPr lang="en-US" sz="1800" b="0" i="0" u="none" strike="noStrike" noProof="0" dirty="0" err="1">
                        <a:solidFill>
                          <a:schemeClr val="accent5">
                            <a:lumMod val="76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Excellent for matching the </a:t>
                      </a:r>
                      <a:r>
                        <a:rPr lang="en-US" sz="1800" b="0" i="1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meaning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of the query, even if no keywords overlap. FAISS is a highly optimized library for similarity search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85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92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E449-28E3-2F08-A0F1-CB45EDA2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7398-1384-389C-4B08-E59608D2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436310" cy="6967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Guardrails and failure modes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1BC019-244E-B3DB-CD8E-1E00E5495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638441"/>
              </p:ext>
            </p:extLst>
          </p:nvPr>
        </p:nvGraphicFramePr>
        <p:xfrm>
          <a:off x="288323" y="1946189"/>
          <a:ext cx="11633687" cy="467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325">
                  <a:extLst>
                    <a:ext uri="{9D8B030D-6E8A-4147-A177-3AD203B41FA5}">
                      <a16:colId xmlns:a16="http://schemas.microsoft.com/office/drawing/2014/main" val="967479958"/>
                    </a:ext>
                  </a:extLst>
                </a:gridCol>
                <a:gridCol w="5187058">
                  <a:extLst>
                    <a:ext uri="{9D8B030D-6E8A-4147-A177-3AD203B41FA5}">
                      <a16:colId xmlns:a16="http://schemas.microsoft.com/office/drawing/2014/main" val="872261124"/>
                    </a:ext>
                  </a:extLst>
                </a:gridCol>
                <a:gridCol w="4141304">
                  <a:extLst>
                    <a:ext uri="{9D8B030D-6E8A-4147-A177-3AD203B41FA5}">
                      <a16:colId xmlns:a16="http://schemas.microsoft.com/office/drawing/2014/main" val="3262780945"/>
                    </a:ext>
                  </a:extLst>
                </a:gridCol>
              </a:tblGrid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. No Relevant Answers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Strategy: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Check the highest </a:t>
                      </a: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FAISS score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(cosine similarity) of the retrieved chunks.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Recall@k</a:t>
                      </a: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(e.g., Recall@3):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Measures the percentage of queries where </a:t>
                      </a:r>
                      <a:r>
                        <a:rPr lang="en-US" sz="1800" b="0" i="1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at least one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ground-truth relevant document is in the top k retrieved chunks.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005871"/>
                  </a:ext>
                </a:extLst>
              </a:tr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2. Hallucinations (Generation Failure)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Strategy:-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Source Citation Enforcement</a:t>
                      </a:r>
                      <a:endParaRPr lang="en-US" sz="1800" b="0" i="0" u="none" strike="noStrike" noProof="0" dirty="0">
                        <a:solidFill>
                          <a:schemeClr val="accent5">
                            <a:lumMod val="76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Response Faithfulness (Citation Rate):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Percentage of generated sentences/claims in the answer that are directly supported by text in the source excerpts and correctly cited.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926624"/>
                  </a:ext>
                </a:extLst>
              </a:tr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3. Sensitive Queries (Content Filtering)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Strategy:-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Input Blocking/Filtering</a:t>
                      </a:r>
                      <a:endParaRPr lang="en-US" sz="1800" b="0" i="0" u="none" strike="noStrike" noProof="0" dirty="0">
                        <a:solidFill>
                          <a:schemeClr val="accent5">
                            <a:lumMod val="76000"/>
                          </a:schemeClr>
                        </a:solidFill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Query Categorization Rate: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The success rate of classifying and blocking queries related to harmful, illegal, or irrelevant topics (if such a filter is implemented).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85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406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ED71-BC0F-D36C-5209-A2311315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E10D-483D-5C68-E10D-875AB0E7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436310" cy="6967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Scalability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24F89C-5D55-D71B-E786-265B83694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379232"/>
              </p:ext>
            </p:extLst>
          </p:nvPr>
        </p:nvGraphicFramePr>
        <p:xfrm>
          <a:off x="288323" y="1946189"/>
          <a:ext cx="11633687" cy="485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325">
                  <a:extLst>
                    <a:ext uri="{9D8B030D-6E8A-4147-A177-3AD203B41FA5}">
                      <a16:colId xmlns:a16="http://schemas.microsoft.com/office/drawing/2014/main" val="967479958"/>
                    </a:ext>
                  </a:extLst>
                </a:gridCol>
                <a:gridCol w="5187058">
                  <a:extLst>
                    <a:ext uri="{9D8B030D-6E8A-4147-A177-3AD203B41FA5}">
                      <a16:colId xmlns:a16="http://schemas.microsoft.com/office/drawing/2014/main" val="872261124"/>
                    </a:ext>
                  </a:extLst>
                </a:gridCol>
                <a:gridCol w="4141304">
                  <a:extLst>
                    <a:ext uri="{9D8B030D-6E8A-4147-A177-3AD203B41FA5}">
                      <a16:colId xmlns:a16="http://schemas.microsoft.com/office/drawing/2014/main" val="3262780945"/>
                    </a:ext>
                  </a:extLst>
                </a:gridCol>
              </a:tblGrid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1. 10x Increase in Documents (Vector Storage)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AISS uses the brute-force 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IndexFlatIP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. It stores all vectors in memory. A 10x increase means a 10x increase in RAM usage for the index.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Use a Scalable Vector Index (FAISS):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Move from 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IndexFlatIP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to an approximate nearest neighbors (ANN) index like </a:t>
                      </a:r>
                      <a:r>
                        <a:rPr lang="en-US" sz="1800" b="1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IndexIVF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or </a:t>
                      </a:r>
                      <a:r>
                        <a:rPr lang="en-US" sz="1800" b="1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IndexHNSW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005871"/>
                  </a:ext>
                </a:extLst>
              </a:tr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2. 100+ Concurrent Users (Inference Load)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Bottleneck: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The </a:t>
                      </a: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LLM Generation Step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(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flan-t5-small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) is typically the slowest part. Serving 100+ concurrent queries will quickly saturate a single CPU/GPU instance.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Asynchronous API &amp; Batching: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 Implement the serving pipeline using an asynchronous API (e.g., 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FastAPI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</a:rPr>
                        <a:t>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926624"/>
                  </a:ext>
                </a:extLst>
              </a:tr>
              <a:tr h="15585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3. Cloud Deployment under Cost Constraints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Using 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google/flan-t5-small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and 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Consolas"/>
                        </a:rPr>
                        <a:t>all-MiniLM-L6-v2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is already a cost-conscious choice, as both are small and efficient models.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Serverless/CPU-Only Deployment: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Since </a:t>
                      </a:r>
                      <a:r>
                        <a:rPr lang="en-US" sz="1800" b="0" i="0" u="none" strike="noStrike" noProof="0" dirty="0" err="1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MiniLM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 (384-dim) and Flan-T5-small are small, they can often run efficiently on high-CPU, low-memory instances</a:t>
                      </a:r>
                      <a:r>
                        <a:rPr lang="en-US" sz="1800" b="1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 </a:t>
                      </a:r>
                      <a:r>
                        <a:rPr lang="en-US" sz="1800" b="0" i="0" u="none" strike="noStrike" noProof="0" dirty="0">
                          <a:solidFill>
                            <a:schemeClr val="accent5">
                              <a:lumMod val="76000"/>
                            </a:schemeClr>
                          </a:solidFill>
                          <a:latin typeface="Arial Nova"/>
                        </a:rPr>
                        <a:t>without needing expensive GPUs.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85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3905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A_Win32_MW_JS_SL_v2" id="{44541DF4-21D6-4F7A-B904-007D7865A971}" vid="{47A233BE-44D9-439C-9A9E-AF9EA0822A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49A8C3-21EC-4C35-871F-CCC7148089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1B53F0-FE0E-4C4C-84FF-93580062270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9D363B3-DC66-45B9-8B2A-DA220F5DD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1112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Nova</vt:lpstr>
      <vt:lpstr>Calibri</vt:lpstr>
      <vt:lpstr>Consolas</vt:lpstr>
      <vt:lpstr>Wingdings</vt:lpstr>
      <vt:lpstr>Theme1</vt:lpstr>
      <vt:lpstr>RAG + LLM system design</vt:lpstr>
      <vt:lpstr>PowerPoint Presentation</vt:lpstr>
      <vt:lpstr>PowerPoint Presentation</vt:lpstr>
      <vt:lpstr>PowerPoint Presentation</vt:lpstr>
      <vt:lpstr>PowerPoint Presentation</vt:lpstr>
      <vt:lpstr>RAG system architecture</vt:lpstr>
      <vt:lpstr>Retrieval Strategy and embedding model</vt:lpstr>
      <vt:lpstr>Guardrails and failure modes</vt:lpstr>
      <vt:lpstr>Scalability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moyeed</dc:creator>
  <cp:lastModifiedBy>Abdul moyeed</cp:lastModifiedBy>
  <cp:revision>313</cp:revision>
  <dcterms:created xsi:type="dcterms:W3CDTF">2025-10-05T23:37:02Z</dcterms:created>
  <dcterms:modified xsi:type="dcterms:W3CDTF">2025-10-06T01:12:08Z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